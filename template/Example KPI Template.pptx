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  <p:sldMasterId id="2147483686" r:id="rId2"/>
    <p:sldMasterId id="2147483664" r:id="rId3"/>
    <p:sldMasterId id="2147483670" r:id="rId4"/>
    <p:sldMasterId id="2147483691" r:id="rId5"/>
  </p:sldMasterIdLst>
  <p:notesMasterIdLst>
    <p:notesMasterId r:id="rId7"/>
  </p:notesMasterIdLst>
  <p:sldIdLst>
    <p:sldId id="29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94C"/>
    <a:srgbClr val="00B2D4"/>
    <a:srgbClr val="006BA8"/>
    <a:srgbClr val="EFA338"/>
    <a:srgbClr val="779C31"/>
    <a:srgbClr val="E7E538"/>
    <a:srgbClr val="FCD033"/>
    <a:srgbClr val="009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58"/>
    <p:restoredTop sz="94687"/>
  </p:normalViewPr>
  <p:slideViewPr>
    <p:cSldViewPr snapToGrid="0" snapToObjects="1">
      <p:cViewPr varScale="1">
        <p:scale>
          <a:sx n="111" d="100"/>
          <a:sy n="111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70" d="100"/>
          <a:sy n="170" d="100"/>
        </p:scale>
        <p:origin x="532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Altura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294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FB-4C38-99EB-2903B0DB43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00B2D4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FB-4C38-99EB-2903B0DB439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5FB-4C38-99EB-2903B0DB43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2132034400"/>
        <c:axId val="-2132031008"/>
      </c:barChart>
      <c:catAx>
        <c:axId val="-2132034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2031008"/>
        <c:crosses val="autoZero"/>
        <c:auto val="1"/>
        <c:lblAlgn val="ctr"/>
        <c:lblOffset val="100"/>
        <c:noMultiLvlLbl val="0"/>
      </c:catAx>
      <c:valAx>
        <c:axId val="-2132031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2034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Altura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rgbClr val="00294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294C"/>
              </a:solidFill>
              <a:ln w="9525">
                <a:solidFill>
                  <a:srgbClr val="00294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26-4513-AD63-F269E7B5B2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rgbClr val="00B2D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2D4"/>
              </a:solidFill>
              <a:ln w="9525">
                <a:solidFill>
                  <a:srgbClr val="00B2D4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E26-4513-AD63-F269E7B5B29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E26-4513-AD63-F269E7B5B2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48866240"/>
        <c:axId val="2102027328"/>
      </c:lineChart>
      <c:catAx>
        <c:axId val="2048866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2027328"/>
        <c:crosses val="autoZero"/>
        <c:auto val="1"/>
        <c:lblAlgn val="ctr"/>
        <c:lblOffset val="100"/>
        <c:noMultiLvlLbl val="0"/>
      </c:catAx>
      <c:valAx>
        <c:axId val="2102027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88662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Altura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0294C"/>
            </a:solidFill>
          </c:spPr>
          <c:dPt>
            <c:idx val="0"/>
            <c:bubble3D val="0"/>
            <c:spPr>
              <a:solidFill>
                <a:srgbClr val="00294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D10-4F8D-AFBA-6EDA7FBA471D}"/>
              </c:ext>
            </c:extLst>
          </c:dPt>
          <c:dPt>
            <c:idx val="1"/>
            <c:bubble3D val="0"/>
            <c:spPr>
              <a:solidFill>
                <a:srgbClr val="00B2D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D10-4F8D-AFBA-6EDA7FBA471D}"/>
              </c:ext>
            </c:extLst>
          </c:dPt>
          <c:dPt>
            <c:idx val="2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D10-4F8D-AFBA-6EDA7FBA471D}"/>
              </c:ext>
            </c:extLst>
          </c:dPt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D10-4F8D-AFBA-6EDA7FBA47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RSS Deployment 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8.5023172394429168E-17"/>
                  <c:y val="-1.33555903135864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092-41D2-AFF6-30A961043AC3}"/>
                </c:ext>
              </c:extLst>
            </c:dLbl>
            <c:dLbl>
              <c:idx val="1"/>
              <c:layout>
                <c:manualLayout>
                  <c:x val="2.1592444480638862E-3"/>
                  <c:y val="1.60642468682624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092-41D2-AFF6-30A961043AC3}"/>
                </c:ext>
              </c:extLst>
            </c:dLbl>
            <c:dLbl>
              <c:idx val="2"/>
              <c:layout>
                <c:manualLayout>
                  <c:x val="-1.1594202898550725E-2"/>
                  <c:y val="3.11630440650350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092-41D2-AFF6-30A961043AC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'YTD Dep'!$A$6:$A$18</c:f>
              <c:strCache>
                <c:ptCount val="13"/>
                <c:pt idx="0">
                  <c:v>May</c:v>
                </c:pt>
                <c:pt idx="1">
                  <c:v>June</c:v>
                </c:pt>
                <c:pt idx="2">
                  <c:v>July</c:v>
                </c:pt>
                <c:pt idx="3">
                  <c:v>August</c:v>
                </c:pt>
                <c:pt idx="4">
                  <c:v>September</c:v>
                </c:pt>
                <c:pt idx="5">
                  <c:v>October</c:v>
                </c:pt>
                <c:pt idx="6">
                  <c:v>November</c:v>
                </c:pt>
                <c:pt idx="7">
                  <c:v>December</c:v>
                </c:pt>
                <c:pt idx="8">
                  <c:v>January</c:v>
                </c:pt>
                <c:pt idx="9">
                  <c:v>February</c:v>
                </c:pt>
                <c:pt idx="10">
                  <c:v>March</c:v>
                </c:pt>
                <c:pt idx="11">
                  <c:v>April </c:v>
                </c:pt>
                <c:pt idx="12">
                  <c:v>May</c:v>
                </c:pt>
              </c:strCache>
            </c:strRef>
          </c:cat>
          <c:val>
            <c:numRef>
              <c:f>'YTD Dep'!$B$6:$B$18</c:f>
              <c:numCache>
                <c:formatCode>0%</c:formatCode>
                <c:ptCount val="13"/>
                <c:pt idx="0">
                  <c:v>0.76</c:v>
                </c:pt>
                <c:pt idx="1">
                  <c:v>0.79</c:v>
                </c:pt>
                <c:pt idx="2">
                  <c:v>0.82</c:v>
                </c:pt>
                <c:pt idx="3">
                  <c:v>0.85</c:v>
                </c:pt>
                <c:pt idx="4">
                  <c:v>0.79</c:v>
                </c:pt>
                <c:pt idx="5">
                  <c:v>0.79</c:v>
                </c:pt>
                <c:pt idx="6">
                  <c:v>0.84</c:v>
                </c:pt>
                <c:pt idx="7">
                  <c:v>0.79</c:v>
                </c:pt>
                <c:pt idx="8">
                  <c:v>0.77</c:v>
                </c:pt>
                <c:pt idx="9">
                  <c:v>0.82</c:v>
                </c:pt>
                <c:pt idx="10">
                  <c:v>0.84</c:v>
                </c:pt>
                <c:pt idx="11">
                  <c:v>0.9</c:v>
                </c:pt>
                <c:pt idx="12">
                  <c:v>0.81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092-41D2-AFF6-30A961043AC3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'YTD Dep'!$A$6:$A$18</c:f>
              <c:strCache>
                <c:ptCount val="13"/>
                <c:pt idx="0">
                  <c:v>May</c:v>
                </c:pt>
                <c:pt idx="1">
                  <c:v>June</c:v>
                </c:pt>
                <c:pt idx="2">
                  <c:v>July</c:v>
                </c:pt>
                <c:pt idx="3">
                  <c:v>August</c:v>
                </c:pt>
                <c:pt idx="4">
                  <c:v>September</c:v>
                </c:pt>
                <c:pt idx="5">
                  <c:v>October</c:v>
                </c:pt>
                <c:pt idx="6">
                  <c:v>November</c:v>
                </c:pt>
                <c:pt idx="7">
                  <c:v>December</c:v>
                </c:pt>
                <c:pt idx="8">
                  <c:v>January</c:v>
                </c:pt>
                <c:pt idx="9">
                  <c:v>February</c:v>
                </c:pt>
                <c:pt idx="10">
                  <c:v>March</c:v>
                </c:pt>
                <c:pt idx="11">
                  <c:v>April </c:v>
                </c:pt>
                <c:pt idx="12">
                  <c:v>May</c:v>
                </c:pt>
              </c:strCache>
            </c:strRef>
          </c:cat>
          <c:val>
            <c:numRef>
              <c:f>'YTD Dep'!$C$6:$C$18</c:f>
              <c:numCache>
                <c:formatCode>0%</c:formatCode>
                <c:ptCount val="13"/>
                <c:pt idx="0">
                  <c:v>0.8</c:v>
                </c:pt>
                <c:pt idx="1">
                  <c:v>0.8</c:v>
                </c:pt>
                <c:pt idx="2">
                  <c:v>0.8</c:v>
                </c:pt>
                <c:pt idx="3">
                  <c:v>0.8</c:v>
                </c:pt>
                <c:pt idx="4">
                  <c:v>0.8</c:v>
                </c:pt>
                <c:pt idx="5">
                  <c:v>0.8</c:v>
                </c:pt>
                <c:pt idx="6">
                  <c:v>0.8</c:v>
                </c:pt>
                <c:pt idx="7">
                  <c:v>0.8</c:v>
                </c:pt>
                <c:pt idx="8">
                  <c:v>0.8</c:v>
                </c:pt>
                <c:pt idx="9">
                  <c:v>0.8</c:v>
                </c:pt>
                <c:pt idx="10">
                  <c:v>0.8</c:v>
                </c:pt>
                <c:pt idx="11">
                  <c:v>0.8</c:v>
                </c:pt>
                <c:pt idx="12">
                  <c:v>0.8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092-41D2-AFF6-30A961043A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36972591"/>
        <c:axId val="636974991"/>
      </c:lineChart>
      <c:catAx>
        <c:axId val="63697259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6974991"/>
        <c:crosses val="autoZero"/>
        <c:auto val="1"/>
        <c:lblAlgn val="ctr"/>
        <c:lblOffset val="100"/>
        <c:noMultiLvlLbl val="0"/>
      </c:catAx>
      <c:valAx>
        <c:axId val="636974991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 Deployed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69725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EACF9-9ECC-2140-9A64-D93FA41C779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EEB0A-60C7-7D4C-801C-F64608AAF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66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3.xml"/><Relationship Id="rId4" Type="http://schemas.openxmlformats.org/officeDocument/2006/relationships/chart" Target="../charts/chart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545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82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2479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961162" y="1876580"/>
            <a:ext cx="4883727" cy="2750355"/>
          </a:xfrm>
          <a:prstGeom prst="rect">
            <a:avLst/>
          </a:prstGeom>
          <a:noFill/>
        </p:spPr>
        <p:txBody>
          <a:bodyPr wrap="square" bIns="0" rtlCol="0" anchor="ctr" anchorCtr="0">
            <a:noAutofit/>
          </a:bodyPr>
          <a:lstStyle/>
          <a:p>
            <a:pPr algn="r"/>
            <a:r>
              <a:rPr lang="en-US" sz="2118" b="1" i="0" dirty="0" err="1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rPr>
              <a:t>Altura</a:t>
            </a:r>
            <a:r>
              <a:rPr lang="en-US" sz="2118" b="1" i="0" dirty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rPr>
              <a:t> Credit Union</a:t>
            </a:r>
          </a:p>
          <a:p>
            <a:pPr algn="r"/>
            <a:endParaRPr lang="en-US" sz="2118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exercitation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ea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commodo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235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28" t="11278" r="4193" b="1694"/>
          <a:stretch/>
        </p:blipFill>
        <p:spPr>
          <a:xfrm>
            <a:off x="6618517" y="660761"/>
            <a:ext cx="5573484" cy="619724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6618516" y="660760"/>
            <a:ext cx="5573485" cy="1292702"/>
          </a:xfrm>
          <a:prstGeom prst="rect">
            <a:avLst/>
          </a:prstGeom>
          <a:solidFill>
            <a:srgbClr val="00294C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</p:spTree>
    <p:extLst>
      <p:ext uri="{BB962C8B-B14F-4D97-AF65-F5344CB8AC3E}">
        <p14:creationId xmlns:p14="http://schemas.microsoft.com/office/powerpoint/2010/main" val="846109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" t="13613" r="606" b="19630"/>
          <a:stretch/>
        </p:blipFill>
        <p:spPr>
          <a:xfrm>
            <a:off x="-5" y="660764"/>
            <a:ext cx="4266789" cy="21442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49" t="19561" r="791"/>
          <a:stretch/>
        </p:blipFill>
        <p:spPr>
          <a:xfrm>
            <a:off x="0" y="2804969"/>
            <a:ext cx="4266783" cy="405303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4266787" y="2163124"/>
            <a:ext cx="7925213" cy="641847"/>
          </a:xfrm>
          <a:prstGeom prst="rect">
            <a:avLst/>
          </a:prstGeom>
          <a:solidFill>
            <a:srgbClr val="002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8" name="TextBox 7"/>
          <p:cNvSpPr txBox="1"/>
          <p:nvPr userDrawn="1"/>
        </p:nvSpPr>
        <p:spPr>
          <a:xfrm>
            <a:off x="4991456" y="2163123"/>
            <a:ext cx="6535524" cy="573819"/>
          </a:xfrm>
          <a:prstGeom prst="rect">
            <a:avLst/>
          </a:prstGeom>
          <a:noFill/>
        </p:spPr>
        <p:txBody>
          <a:bodyPr wrap="square" bIns="0" rtlCol="0" anchor="ctr" anchorCtr="0">
            <a:noAutofit/>
          </a:bodyPr>
          <a:lstStyle/>
          <a:p>
            <a:pPr algn="l"/>
            <a:r>
              <a:rPr lang="en-US" sz="2118" b="1" i="0" dirty="0" err="1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Altura</a:t>
            </a:r>
            <a:r>
              <a:rPr lang="en-US" sz="2118" b="1" i="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 Credit Union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3" y="2163124"/>
            <a:ext cx="4266784" cy="641847"/>
          </a:xfrm>
          <a:prstGeom prst="rect">
            <a:avLst/>
          </a:prstGeom>
          <a:solidFill>
            <a:srgbClr val="00B2D4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10" name="TextBox 9"/>
          <p:cNvSpPr txBox="1"/>
          <p:nvPr userDrawn="1"/>
        </p:nvSpPr>
        <p:spPr>
          <a:xfrm>
            <a:off x="4991459" y="3013631"/>
            <a:ext cx="4883727" cy="1569962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endParaRPr lang="en-US" sz="1235" b="0" i="0" kern="1200" dirty="0">
              <a:solidFill>
                <a:schemeClr val="tx1"/>
              </a:solidFill>
              <a:effectLst/>
              <a:latin typeface="Helvetica Light" charset="0"/>
              <a:ea typeface="Helvetica Light" charset="0"/>
              <a:cs typeface="Helvetica Light" charset="0"/>
            </a:endParaRPr>
          </a:p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exercitation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</a:t>
            </a:r>
            <a:endParaRPr lang="en-US" sz="1235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172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69" t="6246" r="680" b="1549"/>
          <a:stretch/>
        </p:blipFill>
        <p:spPr>
          <a:xfrm>
            <a:off x="2" y="663389"/>
            <a:ext cx="5436711" cy="6194611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3" y="952890"/>
            <a:ext cx="5436714" cy="1870994"/>
          </a:xfrm>
          <a:prstGeom prst="rect">
            <a:avLst/>
          </a:prstGeom>
          <a:solidFill>
            <a:srgbClr val="00294C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452158" y="2622180"/>
            <a:ext cx="4883727" cy="2615222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exercitation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</a:t>
            </a:r>
          </a:p>
          <a:p>
            <a:pPr marL="252147" marR="0" indent="-252147" algn="l" defTabSz="806871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marR="0" indent="-252147" algn="l" defTabSz="806871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marR="0" indent="-252147" algn="l" defTabSz="806871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exercitation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endParaRPr lang="en-US" sz="1235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276495" y="1500359"/>
            <a:ext cx="4883727" cy="774557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r"/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exercitation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commodo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235" b="0" i="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5436714" y="952890"/>
            <a:ext cx="136753" cy="1870994"/>
          </a:xfrm>
          <a:prstGeom prst="rect">
            <a:avLst/>
          </a:prstGeom>
          <a:solidFill>
            <a:srgbClr val="00B2D4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16" name="TextBox 15"/>
          <p:cNvSpPr txBox="1"/>
          <p:nvPr userDrawn="1"/>
        </p:nvSpPr>
        <p:spPr>
          <a:xfrm>
            <a:off x="6452155" y="2274916"/>
            <a:ext cx="2843168" cy="265310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235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Heading</a:t>
            </a:r>
            <a:endParaRPr lang="en-US" sz="1235" b="1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623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60762"/>
            <a:ext cx="12191998" cy="2002539"/>
          </a:xfrm>
          <a:prstGeom prst="rect">
            <a:avLst/>
          </a:prstGeom>
          <a:solidFill>
            <a:srgbClr val="002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9" name="Rectangle 8"/>
          <p:cNvSpPr/>
          <p:nvPr userDrawn="1"/>
        </p:nvSpPr>
        <p:spPr>
          <a:xfrm>
            <a:off x="2512927" y="663565"/>
            <a:ext cx="7166144" cy="2603571"/>
          </a:xfrm>
          <a:prstGeom prst="rect">
            <a:avLst/>
          </a:prstGeom>
          <a:solidFill>
            <a:srgbClr val="00B2D4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88" dirty="0"/>
              <a:t>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2985891" y="1268047"/>
            <a:ext cx="6220216" cy="787974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ctr"/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exercitation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commodo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235" b="0" i="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883578" y="3877192"/>
            <a:ext cx="3903165" cy="704508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059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Section 1</a:t>
            </a:r>
          </a:p>
          <a:p>
            <a:pPr algn="l"/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059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1883578" y="5191757"/>
            <a:ext cx="3903165" cy="704508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059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Section 3</a:t>
            </a:r>
          </a:p>
          <a:p>
            <a:pPr algn="l"/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059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7509627" y="3877192"/>
            <a:ext cx="3903165" cy="704508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059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Section 2</a:t>
            </a:r>
          </a:p>
          <a:p>
            <a:pPr algn="l"/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059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7509627" y="5191757"/>
            <a:ext cx="3903165" cy="704508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059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Section 4</a:t>
            </a:r>
          </a:p>
          <a:p>
            <a:pPr algn="l"/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059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21" name="TextBox 20"/>
          <p:cNvSpPr txBox="1"/>
          <p:nvPr userDrawn="1"/>
        </p:nvSpPr>
        <p:spPr>
          <a:xfrm>
            <a:off x="3906733" y="2829436"/>
            <a:ext cx="4378532" cy="282385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indent="0" algn="ctr" defTabSz="8068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35" b="1" i="0" kern="1200" dirty="0">
                <a:solidFill>
                  <a:schemeClr val="bg1"/>
                </a:solidFill>
                <a:effectLst/>
                <a:latin typeface="Arial" charset="0"/>
                <a:ea typeface="Arial" charset="0"/>
                <a:cs typeface="Arial" charset="0"/>
              </a:rPr>
              <a:t>Section Description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1409" y="3984521"/>
            <a:ext cx="590550" cy="45085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1409" y="5266474"/>
            <a:ext cx="590550" cy="45085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59433" y="3984521"/>
            <a:ext cx="590550" cy="45085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59433" y="5266474"/>
            <a:ext cx="590550" cy="45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66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99"/>
          <a:stretch/>
        </p:blipFill>
        <p:spPr>
          <a:xfrm>
            <a:off x="0" y="660763"/>
            <a:ext cx="12192000" cy="619723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726595" y="660763"/>
            <a:ext cx="6970376" cy="6197239"/>
          </a:xfrm>
          <a:prstGeom prst="rect">
            <a:avLst/>
          </a:prstGeom>
          <a:solidFill>
            <a:srgbClr val="00294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539394" y="3098945"/>
            <a:ext cx="5290521" cy="1165539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marL="0" marR="0" indent="0" algn="ctr" defTabSz="8068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765" b="1" i="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97902" y="1954306"/>
            <a:ext cx="1190625" cy="904875"/>
          </a:xfrm>
          <a:prstGeom prst="rect">
            <a:avLst/>
          </a:prstGeom>
        </p:spPr>
      </p:pic>
      <p:sp>
        <p:nvSpPr>
          <p:cNvPr id="27" name="Rectangle 26"/>
          <p:cNvSpPr/>
          <p:nvPr userDrawn="1"/>
        </p:nvSpPr>
        <p:spPr>
          <a:xfrm>
            <a:off x="3439749" y="4652682"/>
            <a:ext cx="1489810" cy="89647"/>
          </a:xfrm>
          <a:prstGeom prst="rect">
            <a:avLst/>
          </a:prstGeom>
          <a:solidFill>
            <a:srgbClr val="00B2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</p:spTree>
    <p:extLst>
      <p:ext uri="{BB962C8B-B14F-4D97-AF65-F5344CB8AC3E}">
        <p14:creationId xmlns:p14="http://schemas.microsoft.com/office/powerpoint/2010/main" val="409039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Samp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/>
          <p:cNvGraphicFramePr/>
          <p:nvPr userDrawn="1">
            <p:extLst>
              <p:ext uri="{D42A27DB-BD31-4B8C-83A1-F6EECF244321}">
                <p14:modId xmlns:p14="http://schemas.microsoft.com/office/powerpoint/2010/main" val="435420382"/>
              </p:ext>
            </p:extLst>
          </p:nvPr>
        </p:nvGraphicFramePr>
        <p:xfrm>
          <a:off x="611831" y="1023583"/>
          <a:ext cx="5328561" cy="25859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/>
          <p:nvPr userDrawn="1">
            <p:extLst>
              <p:ext uri="{D42A27DB-BD31-4B8C-83A1-F6EECF244321}">
                <p14:modId xmlns:p14="http://schemas.microsoft.com/office/powerpoint/2010/main" val="1633574945"/>
              </p:ext>
            </p:extLst>
          </p:nvPr>
        </p:nvGraphicFramePr>
        <p:xfrm>
          <a:off x="6258339" y="1023323"/>
          <a:ext cx="5342535" cy="259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/>
          <p:nvPr userDrawn="1">
            <p:extLst>
              <p:ext uri="{D42A27DB-BD31-4B8C-83A1-F6EECF244321}">
                <p14:modId xmlns:p14="http://schemas.microsoft.com/office/powerpoint/2010/main" val="2063157367"/>
              </p:ext>
            </p:extLst>
          </p:nvPr>
        </p:nvGraphicFramePr>
        <p:xfrm>
          <a:off x="3004897" y="3614270"/>
          <a:ext cx="6182206" cy="30001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91745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69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30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3.jp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322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0" t="8958" b="15933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2"/>
            <a:ext cx="12192000" cy="1711023"/>
          </a:xfrm>
          <a:prstGeom prst="rect">
            <a:avLst/>
          </a:prstGeom>
          <a:solidFill>
            <a:srgbClr val="00294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588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7283532" y="2"/>
            <a:ext cx="4159004" cy="2405103"/>
          </a:xfrm>
          <a:prstGeom prst="rect">
            <a:avLst/>
          </a:prstGeom>
          <a:solidFill>
            <a:srgbClr val="00B2D4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039" y="608191"/>
            <a:ext cx="2948940" cy="832104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7674563" y="1898570"/>
            <a:ext cx="3172212" cy="276999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indent="0" algn="r" defTabSz="8068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bg1"/>
                </a:solidFill>
                <a:effectLst/>
                <a:latin typeface="Arial" charset="0"/>
                <a:ea typeface="Arial" charset="0"/>
                <a:cs typeface="Arial" charset="0"/>
              </a:rPr>
              <a:t>Enriching Lives and Empowering Dreams</a:t>
            </a:r>
          </a:p>
        </p:txBody>
      </p:sp>
    </p:spTree>
    <p:extLst>
      <p:ext uri="{BB962C8B-B14F-4D97-AF65-F5344CB8AC3E}">
        <p14:creationId xmlns:p14="http://schemas.microsoft.com/office/powerpoint/2010/main" val="148183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38" y="210731"/>
            <a:ext cx="1106424" cy="309125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0" y="660761"/>
            <a:ext cx="1219199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3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90" r:id="rId2"/>
    <p:sldLayoutId id="2147483680" r:id="rId3"/>
    <p:sldLayoutId id="2147483682" r:id="rId4"/>
    <p:sldLayoutId id="2147483683" r:id="rId5"/>
    <p:sldLayoutId id="2147483684" r:id="rId6"/>
    <p:sldLayoutId id="2147483685" r:id="rId7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17080"/>
          <a:stretch/>
        </p:blipFill>
        <p:spPr>
          <a:xfrm>
            <a:off x="3" y="1"/>
            <a:ext cx="12191997" cy="6857999"/>
          </a:xfrm>
          <a:prstGeom prst="rect">
            <a:avLst/>
          </a:prstGeom>
          <a:solidFill>
            <a:srgbClr val="00294C"/>
          </a:solidFill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02" y="222408"/>
            <a:ext cx="1106424" cy="3122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2828239" y="2090778"/>
            <a:ext cx="6535524" cy="573819"/>
          </a:xfrm>
          <a:prstGeom prst="rect">
            <a:avLst/>
          </a:prstGeom>
          <a:noFill/>
        </p:spPr>
        <p:txBody>
          <a:bodyPr wrap="square" bIns="0" rtlCol="0" anchor="ctr" anchorCtr="0">
            <a:noAutofit/>
          </a:bodyPr>
          <a:lstStyle/>
          <a:p>
            <a:pPr algn="ctr"/>
            <a:r>
              <a:rPr lang="en-US" sz="2118" b="1" i="0" dirty="0" err="1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Altura</a:t>
            </a:r>
            <a:r>
              <a:rPr lang="en-US" sz="2118" b="1" i="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 Credit Union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2718954" y="2840586"/>
            <a:ext cx="6754095" cy="1176832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exercitation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commodo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235" b="0" i="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866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992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1"/>
            <a:ext cx="12192000" cy="6857997"/>
          </a:xfrm>
          <a:prstGeom prst="rect">
            <a:avLst/>
          </a:prstGeom>
          <a:solidFill>
            <a:srgbClr val="00294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588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02" y="222408"/>
            <a:ext cx="1106424" cy="312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18954" y="222408"/>
            <a:ext cx="6535524" cy="573819"/>
          </a:xfrm>
          <a:prstGeom prst="rect">
            <a:avLst/>
          </a:prstGeom>
          <a:noFill/>
        </p:spPr>
        <p:txBody>
          <a:bodyPr wrap="square" bIns="0" rtlCol="0" anchor="ctr" anchorCtr="0">
            <a:no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Regional Operations Support</a:t>
            </a:r>
            <a:endParaRPr lang="en-US" sz="3600" b="1" i="0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1372239"/>
            <a:ext cx="754414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+mn-lt"/>
              </a:rPr>
              <a:t>Deployment Rate– </a:t>
            </a:r>
            <a:r>
              <a:rPr lang="en-US" dirty="0">
                <a:solidFill>
                  <a:srgbClr val="002060"/>
                </a:solidFill>
              </a:rPr>
              <a:t>May</a:t>
            </a:r>
            <a:r>
              <a:rPr lang="en-US" dirty="0">
                <a:solidFill>
                  <a:srgbClr val="002060"/>
                </a:solidFill>
                <a:latin typeface="+mn-lt"/>
              </a:rPr>
              <a:t> 2026</a:t>
            </a:r>
            <a:r>
              <a:rPr lang="en-US" dirty="0">
                <a:solidFill>
                  <a:srgbClr val="002060"/>
                </a:solidFill>
              </a:rPr>
              <a:t> </a:t>
            </a:r>
            <a:endParaRPr lang="en-US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544049" y="1372239"/>
            <a:ext cx="1809751" cy="15233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u="sng" dirty="0">
                <a:solidFill>
                  <a:srgbClr val="002060"/>
                </a:solidFill>
              </a:rPr>
              <a:t>Monthly Performance</a:t>
            </a:r>
          </a:p>
          <a:p>
            <a:pPr algn="ctr"/>
            <a:endParaRPr lang="en-US" sz="1600" dirty="0">
              <a:solidFill>
                <a:srgbClr val="002060"/>
              </a:solidFill>
            </a:endParaRPr>
          </a:p>
          <a:p>
            <a:pPr algn="ctr"/>
            <a:r>
              <a:rPr lang="en-US" sz="3200" dirty="0">
                <a:solidFill>
                  <a:srgbClr val="00294C"/>
                </a:solidFill>
              </a:rPr>
              <a:t>81%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44049" y="3102613"/>
            <a:ext cx="1809751" cy="15233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u="sng" dirty="0">
                <a:solidFill>
                  <a:srgbClr val="002060"/>
                </a:solidFill>
              </a:rPr>
              <a:t>MoM Variance</a:t>
            </a:r>
          </a:p>
          <a:p>
            <a:pPr algn="ctr"/>
            <a:endParaRPr lang="en-US" sz="1600" dirty="0">
              <a:solidFill>
                <a:srgbClr val="002060"/>
              </a:solidFill>
            </a:endParaRPr>
          </a:p>
          <a:p>
            <a:pPr algn="ctr"/>
            <a:r>
              <a:rPr lang="en-US" sz="3200" dirty="0">
                <a:solidFill>
                  <a:srgbClr val="00B050"/>
                </a:solidFill>
              </a:rPr>
              <a:t>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44049" y="4832987"/>
            <a:ext cx="1809751" cy="15233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u="sng" dirty="0">
                <a:solidFill>
                  <a:srgbClr val="002060"/>
                </a:solidFill>
              </a:rPr>
              <a:t>12-Month Historical</a:t>
            </a:r>
          </a:p>
          <a:p>
            <a:pPr algn="ctr"/>
            <a:endParaRPr lang="en-US" sz="1600" dirty="0">
              <a:solidFill>
                <a:srgbClr val="002060"/>
              </a:solidFill>
            </a:endParaRPr>
          </a:p>
          <a:p>
            <a:pPr algn="ctr"/>
            <a:r>
              <a:rPr lang="en-US" sz="3200" dirty="0">
                <a:solidFill>
                  <a:srgbClr val="00294C"/>
                </a:solidFill>
              </a:rPr>
              <a:t>5%</a:t>
            </a:r>
          </a:p>
          <a:p>
            <a:pPr algn="ctr"/>
            <a:endParaRPr lang="en-US" sz="1200" dirty="0">
              <a:solidFill>
                <a:srgbClr val="002060"/>
              </a:solidFill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F5913DD-FAD4-F4A7-54AD-7C1094C132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8858502"/>
              </p:ext>
            </p:extLst>
          </p:nvPr>
        </p:nvGraphicFramePr>
        <p:xfrm>
          <a:off x="1828800" y="1830233"/>
          <a:ext cx="7544146" cy="4526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50417823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ver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ody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allout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1580</TotalTime>
  <Words>29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Helvetica</vt:lpstr>
      <vt:lpstr>Helvetica Light</vt:lpstr>
      <vt:lpstr>Blank</vt:lpstr>
      <vt:lpstr>Cover</vt:lpstr>
      <vt:lpstr>Body</vt:lpstr>
      <vt:lpstr>Callout</vt:lpstr>
      <vt:lpstr>1_Blank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Justus</dc:creator>
  <cp:lastModifiedBy>Jessica Flores</cp:lastModifiedBy>
  <cp:revision>148</cp:revision>
  <cp:lastPrinted>2018-06-05T13:58:08Z</cp:lastPrinted>
  <dcterms:created xsi:type="dcterms:W3CDTF">2018-05-15T13:21:20Z</dcterms:created>
  <dcterms:modified xsi:type="dcterms:W3CDTF">2026-06-15T16:48:42Z</dcterms:modified>
</cp:coreProperties>
</file>